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embeddedFontLst>
    <p:embeddedFont>
      <p:font typeface="Space Grotesk" panose="020B0604020202020204" charset="0"/>
      <p:regular r:id="rId15"/>
      <p:bold r:id="rId16"/>
    </p:embeddedFont>
    <p:embeddedFont>
      <p:font typeface="Plus Jakarta Sans" panose="020B0604020202020204" charset="0"/>
      <p:regular r:id="rId17"/>
      <p:bold r:id="rId18"/>
      <p:italic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-99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21492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474815"/>
            <a:ext cx="109728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47481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73548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09600" y="2192684"/>
            <a:ext cx="9101137" cy="113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Job Market Analysis &amp; Recommendation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522315"/>
            <a:ext cx="6953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talent market dynamics, predictive salary trends, and containerized ML recommendation engine based on 240K+ Upwork postings.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52500" y="1749772"/>
            <a:ext cx="3143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DATA-DRIVEN INTELLIGENCE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4712940"/>
            <a:ext cx="225028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SUBMITTED TO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4903440"/>
            <a:ext cx="225028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Nexthikes IT Solutions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867025" y="4712940"/>
            <a:ext cx="12858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SUBMITTED BY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867025" y="4903440"/>
            <a:ext cx="12858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Komal Jain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324350" y="4712940"/>
            <a:ext cx="182165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SAMPLE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324350" y="4903440"/>
            <a:ext cx="182165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244,828 Postings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9820275" y="523875"/>
            <a:ext cx="1762125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609600" y="2581275"/>
            <a:ext cx="350520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4343400" y="2695575"/>
            <a:ext cx="3505200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8077200" y="2695575"/>
            <a:ext cx="3505200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2819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1525" y="2933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5325" y="2933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1075" y="29527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1062" y="306705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4387" y="306705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609600" y="457200"/>
            <a:ext cx="74009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Objectives &amp; Value Proposition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9934575" y="561975"/>
            <a:ext cx="16287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OVERVIEW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47725" y="3467100"/>
            <a:ext cx="3975496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Market Dynamics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47725" y="3810000"/>
            <a:ext cx="3124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Decode high-demand job titles, hourly pay rate variances, and remote hiring behavior across key global talent corridors.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581525" y="3581400"/>
            <a:ext cx="3975496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Smart Recommendation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581525" y="3924300"/>
            <a:ext cx="3124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 personalized job matches for talent based on real-time skills demand, budget thresholds, and hiring history.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315325" y="3581400"/>
            <a:ext cx="38766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Production Ready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315325" y="3924300"/>
            <a:ext cx="3124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Encapsulate API microservices and analytics models within scalable, multi-container Docker deployment pipelines.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609600" y="4533900"/>
            <a:ext cx="10972800" cy="5715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609600" y="2790825"/>
            <a:ext cx="257175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409950" y="2790825"/>
            <a:ext cx="257175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6210300" y="2790825"/>
            <a:ext cx="257175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9010650" y="2790825"/>
            <a:ext cx="257175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472440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Overview &amp; Scope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09600" y="91440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Upwork postings analysis spanning Feb 07, 2024 to Mar 24, 2024.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90537" y="3105150"/>
            <a:ext cx="28098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244.8K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90537" y="3714750"/>
            <a:ext cx="2809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Job Postings Analyzed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3290887" y="3105150"/>
            <a:ext cx="28098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6A34A"/>
                </a:solidFill>
                <a:latin typeface="Space Grotesk"/>
                <a:ea typeface="Space Grotesk"/>
                <a:cs typeface="Space Grotesk"/>
                <a:sym typeface="Space Grotesk"/>
              </a:rPr>
              <a:t>9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3290887" y="3714750"/>
            <a:ext cx="2809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Data Fields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091237" y="3105150"/>
            <a:ext cx="28098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9333EA"/>
                </a:solidFill>
                <a:latin typeface="Space Grotesk"/>
                <a:ea typeface="Space Grotesk"/>
                <a:cs typeface="Space Grotesk"/>
                <a:sym typeface="Space Grotesk"/>
              </a:rPr>
              <a:t>47 Days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091237" y="3714750"/>
            <a:ext cx="2809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Temporal Window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891587" y="3105150"/>
            <a:ext cx="28098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EA580C"/>
                </a:solidFill>
                <a:latin typeface="Space Grotesk"/>
                <a:ea typeface="Space Grotesk"/>
                <a:cs typeface="Space Grotesk"/>
                <a:sym typeface="Space Grotesk"/>
              </a:rPr>
              <a:t>100+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891587" y="3714750"/>
            <a:ext cx="2809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Countries Represented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123950" y="4729162"/>
            <a:ext cx="202406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Dataset Attributes: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2857500" y="4729162"/>
            <a:ext cx="753665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title, link, published_date, is_hourly, hourly_low, hourly_high, budget, country, avg_hourly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609600" y="1804987"/>
            <a:ext cx="539115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6191250" y="1804987"/>
            <a:ext cx="539115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609600" y="4567237"/>
            <a:ext cx="539115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191250" y="4567237"/>
            <a:ext cx="539115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847725" y="2043112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429375" y="2043112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847725" y="4805362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429375" y="4805362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Scope: Tasks 1–4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04850" y="2043112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286500" y="2043112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04850" y="4805362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286500" y="4805362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304925" y="2043112"/>
            <a:ext cx="585073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Title Keywords vs Salary Correlation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304925" y="2300287"/>
            <a:ext cx="45529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Analyze impact of high-value keywords (e.g., 'AI', 'Full Stack', 'Solar') on hourly &amp; fixed budgets.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886575" y="2043112"/>
            <a:ext cx="53054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Emerging Job Categories Identification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886575" y="2300287"/>
            <a:ext cx="45529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 posting growth velocity over time to flag rising tech niches like Bubble apps &amp; UGC creation.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304925" y="4805362"/>
            <a:ext cx="585073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High-Demand Demand Forecast Models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304925" y="5062537"/>
            <a:ext cx="45529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 ML models (Scikit-Learn/TensorFlow) predicting upcoming workload spikes per role.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886575" y="4805362"/>
            <a:ext cx="53054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Geographic Hourly Rate Benchmarking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886575" y="5062537"/>
            <a:ext cx="45529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Cross-compare hourly rates across US, India, France, Israel, and international talent pools.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609600" y="1804987"/>
            <a:ext cx="539115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191250" y="1804987"/>
            <a:ext cx="539115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09600" y="4567237"/>
            <a:ext cx="539115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6191250" y="4567237"/>
            <a:ext cx="539115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847725" y="2043112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6429375" y="2043112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847725" y="4805362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6429375" y="4805362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Scope: Tasks 5–8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704850" y="2043112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286500" y="2043112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704850" y="4805362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286500" y="4805362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304925" y="2043112"/>
            <a:ext cx="585073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Personalized Recommendation Engine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304925" y="2300287"/>
            <a:ext cx="45529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 matching algorithms with Flask/Django REST APIs for real-time candidate job feeds.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886575" y="2043112"/>
            <a:ext cx="53054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Monthly Market Dashboard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886575" y="2300287"/>
            <a:ext cx="45529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 automated Plotly dashboards tracking macro shifts in budget distribution.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304925" y="4805362"/>
            <a:ext cx="585073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Remote Work Landscape Analysis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304925" y="5062537"/>
            <a:ext cx="45529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Investigate remote contract structural preferences (hourly vs fixed price contracts).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886575" y="4805362"/>
            <a:ext cx="53054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Predictive Market Trend Scenarios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886575" y="5062537"/>
            <a:ext cx="45529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Forecast upcoming quarter demand trajectories and skill set saturation indicators.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/>
          <p:nvPr/>
        </p:nvSpPr>
        <p:spPr>
          <a:xfrm>
            <a:off x="609600" y="3086100"/>
            <a:ext cx="2414587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462337" y="3086100"/>
            <a:ext cx="2414587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6315075" y="3086100"/>
            <a:ext cx="2414587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9167812" y="3086100"/>
            <a:ext cx="2414587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587" y="38338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29325" y="38338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82062" y="38338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83543" y="33242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17231" y="332422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22356" y="3324225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41756" y="33242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Engineering &amp; Cleaning Pipeline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09600" y="91440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Transforming raw Upwork scrapings into clean feature vectors.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44859" y="3705225"/>
            <a:ext cx="254406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Raw Ingestion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05432" y="3981450"/>
            <a:ext cx="242292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Parse 244K+ rows containing job titles, links, and posting dates.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3397597" y="3705225"/>
            <a:ext cx="254406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Type Standardization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3458170" y="3981450"/>
            <a:ext cx="242292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Convert datetime UTC strings &amp; parse non-standard numeric rates.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250334" y="3705225"/>
            <a:ext cx="254406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Feature Extraction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310907" y="3981450"/>
            <a:ext cx="242292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Calculate avg_hourly derived from hourly_low &amp; hourly_high.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9103072" y="3705225"/>
            <a:ext cx="254406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Null Imputation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9163645" y="3981450"/>
            <a:ext cx="242292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Separate fixed-budget jobs ($500) from hourly rate ranges ($10–$30).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/>
        </p:nvSpPr>
        <p:spPr>
          <a:xfrm>
            <a:off x="10263187" y="457200"/>
            <a:ext cx="1319212" cy="247650"/>
          </a:xfrm>
          <a:prstGeom prst="roundRect">
            <a:avLst>
              <a:gd name="adj" fmla="val 23076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609600" y="2833687"/>
            <a:ext cx="109728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609600" y="3490912"/>
            <a:ext cx="109728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609600" y="4148137"/>
            <a:ext cx="109728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609600" y="4805362"/>
            <a:ext cx="10972800" cy="266700"/>
          </a:xfrm>
          <a:prstGeom prst="roundRect">
            <a:avLst>
              <a:gd name="adj" fmla="val 21428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09600" y="2833687"/>
            <a:ext cx="9326760" cy="266700"/>
          </a:xfrm>
          <a:prstGeom prst="roundRect">
            <a:avLst>
              <a:gd name="adj" fmla="val 21428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609600" y="3490912"/>
            <a:ext cx="6583560" cy="266700"/>
          </a:xfrm>
          <a:prstGeom prst="roundRect">
            <a:avLst>
              <a:gd name="adj" fmla="val 21428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609600" y="4148137"/>
            <a:ext cx="5266878" cy="266700"/>
          </a:xfrm>
          <a:prstGeom prst="roundRect">
            <a:avLst>
              <a:gd name="adj" fmla="val 21428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09600" y="4805362"/>
            <a:ext cx="2743200" cy="266700"/>
          </a:xfrm>
          <a:prstGeom prst="roundRect">
            <a:avLst>
              <a:gd name="adj" fmla="val 21428"/>
            </a:avLst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10377487" y="495300"/>
            <a:ext cx="11858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TASK 1 INSIGHTS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609600" y="457200"/>
            <a:ext cx="585073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Keyword vs Salary Benchmark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09600" y="838200"/>
            <a:ext cx="5572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Sample analysis derived from job title keyword extraction.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09600" y="2595562"/>
            <a:ext cx="227409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Engineer / AI Pipeline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10515600" y="2595562"/>
            <a:ext cx="13525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$65.00 / hr avg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09600" y="3252787"/>
            <a:ext cx="29527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Stack / Bubble App Developer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10525125" y="3252787"/>
            <a:ext cx="13430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$42.50 / hr avg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09600" y="3910012"/>
            <a:ext cx="248840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Media Buyer / Facebook Ads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10515600" y="3910012"/>
            <a:ext cx="13525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$35.00 / hr avg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09600" y="4567237"/>
            <a:ext cx="246459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WordPress / Elementor Edits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10563225" y="4567237"/>
            <a:ext cx="13049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$18.50 / hr avg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/>
          <p:nvPr/>
        </p:nvSpPr>
        <p:spPr>
          <a:xfrm>
            <a:off x="609600" y="1419225"/>
            <a:ext cx="5372100" cy="4981575"/>
          </a:xfrm>
          <a:prstGeom prst="roundRect">
            <a:avLst>
              <a:gd name="adj" fmla="val 229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6210300" y="1419225"/>
            <a:ext cx="5372100" cy="4981575"/>
          </a:xfrm>
          <a:prstGeom prst="roundRect">
            <a:avLst>
              <a:gd name="adj" fmla="val 229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31861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48425" y="318135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Recommendation Engine Architecture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609600" y="914400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Hybrid content-filtering model deployed via REST API.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1247775" y="3176587"/>
            <a:ext cx="238779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Matching Algorithm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847725" y="3576637"/>
            <a:ext cx="611981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TF-IDF Vectorization: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Title &amp; requirement keyword extraction.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847725" y="3871912"/>
            <a:ext cx="611981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Cosine Similarity: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Profile skills vs active posting vectors.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847725" y="4167187"/>
            <a:ext cx="611981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Budget Filter: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Filters jobs by user hourly minimums.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847725" y="4462462"/>
            <a:ext cx="611981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Geo Preferences: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Prioritizes top client country origins.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6848475" y="3171825"/>
            <a:ext cx="207525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API &amp; UI Interface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448425" y="3571875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Flask/Django Backend: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Lightweight, fast inference endpoints.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6448425" y="3867150"/>
            <a:ext cx="5743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 Endpoints: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/api/recommend returning JSON pay-loads.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448425" y="4171950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Dashboard: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Real-time candidate job feeds.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6448425" y="4467225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Plotly Visuals: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Market hourly rate comparisons.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"/>
          <p:cNvSpPr/>
          <p:nvPr/>
        </p:nvSpPr>
        <p:spPr>
          <a:xfrm>
            <a:off x="9520237" y="457200"/>
            <a:ext cx="2062162" cy="247650"/>
          </a:xfrm>
          <a:prstGeom prst="roundRect">
            <a:avLst>
              <a:gd name="adj" fmla="val 23076"/>
            </a:avLst>
          </a:prstGeom>
          <a:solidFill>
            <a:srgbClr val="F3E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609600" y="2690812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4343400" y="2690812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8077200" y="2690812"/>
            <a:ext cx="35052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2928937"/>
            <a:ext cx="30289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1525" y="2928937"/>
            <a:ext cx="30289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5325" y="2928937"/>
            <a:ext cx="30289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>
            <a:off x="9634537" y="495300"/>
            <a:ext cx="192881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B21A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DOCKER INFRASTRUCTURE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609600" y="457200"/>
            <a:ext cx="775096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Containerized Deployment Environment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09600" y="838200"/>
            <a:ext cx="7381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Multi-container orchestration for seamless reproducibility.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847725" y="4119562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Web Application Container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847725" y="4395787"/>
            <a:ext cx="3124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Flask API serving model predictions &amp; web interface.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4581525" y="4119562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ML Inference Service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4581525" y="4395787"/>
            <a:ext cx="3124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Isolated Python container with Scikit-Learn &amp; Pandas.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8315325" y="4119562"/>
            <a:ext cx="3876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Docker Compose Manager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8315325" y="4395787"/>
            <a:ext cx="3124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Unified orchestration for networking &amp; volume persistence.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/>
          <p:nvPr/>
        </p:nvSpPr>
        <p:spPr>
          <a:xfrm>
            <a:off x="609600" y="2909887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4343400" y="2909887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8077200" y="2909887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Technology Stack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847725" y="3148012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Analytics &amp; ML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847725" y="3481387"/>
            <a:ext cx="3124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Python 3.10+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Pandas &amp; NumPy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Scikit-Learn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TensorFlow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4581525" y="3148012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Visualization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4581525" y="3481387"/>
            <a:ext cx="3124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Plotly Express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Seaborn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Matplotlib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Interactive Dashboards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8315325" y="3148012"/>
            <a:ext cx="3876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DevOps &amp; Web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8315325" y="3481387"/>
            <a:ext cx="3124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Flask / Django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Docker &amp; Docker Compose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REST APIs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Git Version Control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>
            <a:off x="609600" y="3076575"/>
            <a:ext cx="35052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4343400" y="3076575"/>
            <a:ext cx="35052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8077200" y="3076575"/>
            <a:ext cx="3505200" cy="1390650"/>
          </a:xfrm>
          <a:prstGeom prst="roundRect">
            <a:avLst>
              <a:gd name="adj" fmla="val 8219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609600" y="4572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Future Roadmap &amp; Expansion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838200" y="3305175"/>
            <a:ext cx="314325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1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4572000" y="3305175"/>
            <a:ext cx="314325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2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8305800" y="3305175"/>
            <a:ext cx="314325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333E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3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847725" y="3590925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LLM Job Matching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847725" y="3886200"/>
            <a:ext cx="3124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 Transformer embeddings for deep semantic job text matching.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4581525" y="3590925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Real-Time Data Streams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4581525" y="3886200"/>
            <a:ext cx="3124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 automated Kafka pipelines for real-time scraping ingestion.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8315325" y="3590925"/>
            <a:ext cx="3876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Predictive Salary Engine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8315325" y="3886200"/>
            <a:ext cx="3124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Provide candidates with real-time rate offer recommendation tools.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6"/>
          <p:cNvSpPr/>
          <p:nvPr/>
        </p:nvSpPr>
        <p:spPr>
          <a:xfrm>
            <a:off x="5810250" y="4514850"/>
            <a:ext cx="571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7400" y="23145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6"/>
          <p:cNvSpPr txBox="1"/>
          <p:nvPr/>
        </p:nvSpPr>
        <p:spPr>
          <a:xfrm>
            <a:off x="4595812" y="3000375"/>
            <a:ext cx="300037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2524125" y="3733800"/>
            <a:ext cx="7143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Job Market Analysis &amp; Recommendation System Project Complete.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</Words>
  <Application>Microsoft Office PowerPoint</Application>
  <PresentationFormat>Custom</PresentationFormat>
  <Paragraphs>116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Space Grotesk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</cp:revision>
  <dcterms:modified xsi:type="dcterms:W3CDTF">2026-10-20T19:24:21Z</dcterms:modified>
</cp:coreProperties>
</file>